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7" r:id="rId10"/>
    <p:sldId id="264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5"/>
  </p:normalViewPr>
  <p:slideViewPr>
    <p:cSldViewPr snapToGrid="0">
      <p:cViewPr varScale="1">
        <p:scale>
          <a:sx n="93" d="100"/>
          <a:sy n="93" d="100"/>
        </p:scale>
        <p:origin x="20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AA8F0-8713-3D4B-82A0-8BD82E8F14DF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853EC-AD34-8E4A-ADA5-B9B396042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9149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853EC-AD34-8E4A-ADA5-B9B3960420B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9843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2B87-D1A6-F467-D339-9D83D4606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9241B-49C7-C0E5-3E27-572BC01D3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176CF-65BE-C3AB-3446-26B0B8D13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D0F9-63BD-C042-AE60-845A68DDBE8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FEF31-0F44-7044-D364-8271A145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D1364-8438-AE83-1EEC-B38E5F03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0C14-2183-CD47-A36B-D2D2AA58B2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664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4E94-9540-B6A6-F8AA-AD791A4C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9C8C3-C608-8D06-C314-7EE6B1DF5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95E55-C5CB-99FC-44A9-4A0CDA3C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D0F9-63BD-C042-AE60-845A68DDBE8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3D4C2-DF96-8147-E9BC-EBE19FFA1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D9548-F2AB-093E-4A11-028E63D59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0C14-2183-CD47-A36B-D2D2AA58B2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61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C132-86CA-8125-8ECE-6F7C9EFF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661C1-24A0-954F-2582-FF93A56D7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114FC-155F-7130-CBEE-F76A21E8B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D0F9-63BD-C042-AE60-845A68DDBE8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A2914-2296-8269-F145-C73509E1B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499C6-1788-2E53-6D36-CF273259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0C14-2183-CD47-A36B-D2D2AA58B2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488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9F0C7-811D-890F-C985-FB01EF79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22EC-B1D1-3780-5AB6-97845CDAF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FB45C-BF07-7EA7-87B0-B5C06BA89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B1270-415F-416F-71A0-1C94D090F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D0F9-63BD-C042-AE60-845A68DDBE8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D8943-7A20-23C3-F5FA-0354F1D4E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58383-1898-62CD-A056-6680FE53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0C14-2183-CD47-A36B-D2D2AA58B2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098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E9775-B3C0-3F18-2492-A910C2B37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689D6-0074-F3D1-2CB3-E7BCE04E5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B7E15-EDA1-A95D-6A9B-883D528C3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86DCFB-2817-38BB-5FB7-68DDBDE15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CC1FA-1466-5339-4761-4F6B54C7D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7596E-8FDF-9BC9-39E2-946337EAF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D0F9-63BD-C042-AE60-845A68DDBE8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7D5544-A2F2-800F-4D5F-2FCFF7E9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19E5A6-39BF-B31A-1E2E-C9393E4F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0C14-2183-CD47-A36B-D2D2AA58B2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0446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EAD7C-F7DF-FBB6-8861-23EFF653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609FE-4CFC-2377-5AF9-F3757E5F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D0F9-63BD-C042-AE60-845A68DDBE8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D9979-95C0-B94B-EA46-F3C46F57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005C1-9222-764E-510E-F3484ADB7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0C14-2183-CD47-A36B-D2D2AA58B2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353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142A3-3CBC-76E8-02FD-BAEF41DB8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D0F9-63BD-C042-AE60-845A68DDBE8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4F839-950F-70F7-0CD1-ACEB9D36F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30C48-42A2-3103-503C-BE8FD655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0C14-2183-CD47-A36B-D2D2AA58B2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8602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0EEA-5A06-C9EA-0F91-9F03A4BC7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9F946-FED6-CA15-C35F-409142ECA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E36C4-428B-D312-79BB-C5B5E4835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4A81F-E91E-B826-95D0-BD1FFDD6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D0F9-63BD-C042-AE60-845A68DDBE8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25B94-7F0B-7E3F-37EF-2E530415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04850-141A-7650-D25F-4225A498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0C14-2183-CD47-A36B-D2D2AA58B2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6215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0C58-717D-EA23-3C10-D9A4DD42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2E0A20-11B2-ADE0-D4EE-11CCF481F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7F1B4-49D4-B389-1287-346EF0082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5BB4F-343D-AEB4-560E-BDBCF5CF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D0F9-63BD-C042-AE60-845A68DDBE8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3DF66-242D-834A-CB6D-DBE351872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B815E-1925-1D47-8D0B-EF72E92F5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0C14-2183-CD47-A36B-D2D2AA58B2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97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3AB3-2BA6-4BEF-E86D-3D0CDA396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37326-1FFF-2D2D-CAB9-436F484A7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5561F-BFF9-F514-0AF2-B744C9287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D0F9-63BD-C042-AE60-845A68DDBE8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035FB-A15E-CE4F-8FE1-F643814FF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7A47D-F69D-D776-40E5-489953C7A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0C14-2183-CD47-A36B-D2D2AA58B2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40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13E509-3CA3-4428-ED7A-D54235067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7C0E8-AD44-E66A-CA62-E157EA587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E500-AA1E-3E30-FE0F-408503C0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D0F9-63BD-C042-AE60-845A68DDBE8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9ECDD-16AA-25D8-DA9F-51E700EE0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66A2C-CDD0-B8C3-7166-FF205BA6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80C14-2183-CD47-A36B-D2D2AA58B2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55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130C31-AFB5-A34C-6F2F-BEFC6A42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9F21E-11FC-B9B4-6B25-F5A3D48E1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1AAA0-9035-8722-E226-440B983C7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BD0F9-63BD-C042-AE60-845A68DDBE8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2BB88-7C95-117F-8F36-79C678331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6A5F4-73BB-4D58-6076-6BEC573EA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080C14-2183-CD47-A36B-D2D2AA58B2E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45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CABA3-3C0B-8503-8099-4D419193C5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Protocole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0782B-F617-5FE7-0351-3EE674EFDE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Évaluation de l’utilisation de la décharge cave du donneur d’organes </a:t>
            </a:r>
            <a:br>
              <a:rPr lang="fr-FR" dirty="0"/>
            </a:br>
            <a:r>
              <a:rPr lang="fr-FR" dirty="0"/>
              <a:t>en perfusion normothermique de greffons hépatiques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453134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4DBD-5108-97FF-C0AE-B0EAFB39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– </a:t>
            </a:r>
            <a:r>
              <a:rPr lang="fr-FR" b="1" dirty="0"/>
              <a:t>Greffons marginaux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D9094-F93B-FB2A-5845-351EC9FE2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Pénurie de greffons </a:t>
            </a:r>
            <a:r>
              <a:rPr lang="fr-FR" dirty="0">
                <a:sym typeface="Wingdings" pitchFamily="2" charset="2"/>
              </a:rPr>
              <a:t> utilisation croissante de greffons </a:t>
            </a:r>
            <a:r>
              <a:rPr lang="fr-FR" b="1" dirty="0">
                <a:sym typeface="Wingdings" pitchFamily="2" charset="2"/>
              </a:rPr>
              <a:t>marginaux</a:t>
            </a:r>
            <a:r>
              <a:rPr lang="fr-FR" dirty="0">
                <a:sym typeface="Wingdings" pitchFamily="2" charset="2"/>
              </a:rPr>
              <a:t> (stéatosiques, âgés, maladies vasculaires)</a:t>
            </a:r>
            <a:br>
              <a:rPr lang="fr-FR" dirty="0">
                <a:sym typeface="Wingdings" pitchFamily="2" charset="2"/>
              </a:rPr>
            </a:br>
            <a:endParaRPr lang="fr-FR" dirty="0">
              <a:sym typeface="Wingdings" pitchFamily="2" charset="2"/>
            </a:endParaRPr>
          </a:p>
          <a:p>
            <a:r>
              <a:rPr lang="fr-FR" dirty="0">
                <a:sym typeface="Wingdings" pitchFamily="2" charset="2"/>
              </a:rPr>
              <a:t>Perfusion normothermique </a:t>
            </a:r>
            <a:r>
              <a:rPr lang="fr-FR" i="1" dirty="0">
                <a:sym typeface="Wingdings" pitchFamily="2" charset="2"/>
              </a:rPr>
              <a:t>ex vivo</a:t>
            </a:r>
            <a:r>
              <a:rPr lang="fr-FR" dirty="0">
                <a:sym typeface="Wingdings" pitchFamily="2" charset="2"/>
              </a:rPr>
              <a:t> de ces greffons : </a:t>
            </a:r>
          </a:p>
          <a:p>
            <a:pPr lvl="1"/>
            <a:r>
              <a:rPr lang="fr-FR" dirty="0">
                <a:sym typeface="Wingdings" pitchFamily="2" charset="2"/>
              </a:rPr>
              <a:t>Conditionnement pré-implantation</a:t>
            </a:r>
          </a:p>
          <a:p>
            <a:pPr lvl="1"/>
            <a:r>
              <a:rPr lang="fr-FR" dirty="0">
                <a:sym typeface="Wingdings" pitchFamily="2" charset="2"/>
              </a:rPr>
              <a:t>Test de la fonction et de la viabilité avant implantation</a:t>
            </a:r>
          </a:p>
          <a:p>
            <a:pPr lvl="1"/>
            <a:r>
              <a:rPr lang="fr-FR" dirty="0">
                <a:sym typeface="Wingdings" pitchFamily="2" charset="2"/>
              </a:rPr>
              <a:t>Administration de traitements ciblés avant implantation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BD692-3358-6B4B-6B7E-A9DC635C7D72}"/>
              </a:ext>
            </a:extLst>
          </p:cNvPr>
          <p:cNvSpPr txBox="1"/>
          <p:nvPr/>
        </p:nvSpPr>
        <p:spPr>
          <a:xfrm>
            <a:off x="8325853" y="6031210"/>
            <a:ext cx="3220305" cy="646331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fr-FR" dirty="0"/>
              <a:t>Winter </a:t>
            </a:r>
            <a:r>
              <a:rPr lang="fr-FR" i="1" dirty="0"/>
              <a:t>Scientific Reports </a:t>
            </a:r>
            <a:r>
              <a:rPr lang="fr-FR" dirty="0"/>
              <a:t>2020</a:t>
            </a:r>
          </a:p>
          <a:p>
            <a:r>
              <a:rPr lang="fr-FR" dirty="0" err="1"/>
              <a:t>Ceresa</a:t>
            </a:r>
            <a:r>
              <a:rPr lang="fr-FR" dirty="0"/>
              <a:t> </a:t>
            </a:r>
            <a:r>
              <a:rPr lang="fr-FR" i="1" dirty="0"/>
              <a:t>Nature</a:t>
            </a:r>
            <a:r>
              <a:rPr lang="fr-FR" dirty="0"/>
              <a:t> 2022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159940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B3116-98B6-85B5-37B0-4A879C571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50409A-A261-129C-9072-14F96FD45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03" y="2253286"/>
            <a:ext cx="6495707" cy="43514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6FD78E-75E3-BA66-2E2E-4E8D3199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– </a:t>
            </a:r>
            <a:r>
              <a:rPr lang="fr-FR" b="1" dirty="0"/>
              <a:t>Modèle expérimental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80B5F-BE48-EE8E-D3A0-69E0B393F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Foie perfusé = modèle </a:t>
            </a:r>
            <a:r>
              <a:rPr lang="fr-FR" b="1" dirty="0"/>
              <a:t>humain : nombreuses applications</a:t>
            </a:r>
            <a:br>
              <a:rPr lang="fr-FR" dirty="0">
                <a:sym typeface="Wingdings" pitchFamily="2" charset="2"/>
              </a:rPr>
            </a:br>
            <a:endParaRPr lang="fr-FR" dirty="0">
              <a:sym typeface="Wingdings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79C25-68C1-2073-2E6F-9863F91B9B4F}"/>
              </a:ext>
            </a:extLst>
          </p:cNvPr>
          <p:cNvSpPr txBox="1"/>
          <p:nvPr/>
        </p:nvSpPr>
        <p:spPr>
          <a:xfrm>
            <a:off x="8325853" y="5754211"/>
            <a:ext cx="2694905" cy="92333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fr-FR" dirty="0"/>
              <a:t>Schlegel</a:t>
            </a:r>
            <a:r>
              <a:rPr lang="fr-FR" i="1" dirty="0"/>
              <a:t> J </a:t>
            </a:r>
            <a:r>
              <a:rPr lang="fr-FR" i="1" dirty="0" err="1"/>
              <a:t>Hepatol</a:t>
            </a:r>
            <a:r>
              <a:rPr lang="fr-FR" i="1" dirty="0"/>
              <a:t> </a:t>
            </a:r>
            <a:r>
              <a:rPr lang="fr-FR" dirty="0"/>
              <a:t>2022</a:t>
            </a:r>
            <a:r>
              <a:rPr lang="fr-FR" i="1" dirty="0"/>
              <a:t> ; </a:t>
            </a:r>
          </a:p>
          <a:p>
            <a:r>
              <a:rPr lang="fr-FR" dirty="0" err="1"/>
              <a:t>Eshuminov</a:t>
            </a:r>
            <a:r>
              <a:rPr lang="fr-FR" i="1" dirty="0"/>
              <a:t> Nature </a:t>
            </a:r>
            <a:r>
              <a:rPr lang="fr-FR" dirty="0"/>
              <a:t>2024</a:t>
            </a:r>
          </a:p>
          <a:p>
            <a:r>
              <a:rPr lang="fr-FR" dirty="0"/>
              <a:t>Lascaris</a:t>
            </a:r>
            <a:r>
              <a:rPr lang="fr-FR" i="1" dirty="0"/>
              <a:t> J </a:t>
            </a:r>
            <a:r>
              <a:rPr lang="fr-FR" i="1" dirty="0" err="1"/>
              <a:t>Hepatol</a:t>
            </a:r>
            <a:r>
              <a:rPr lang="fr-FR" dirty="0"/>
              <a:t> 2022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46742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62381-0A20-1E4B-716D-16BD18F0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B180-6294-DED7-60F0-9856991A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 – </a:t>
            </a:r>
            <a:r>
              <a:rPr lang="fr-FR" b="1" dirty="0"/>
              <a:t>dépendance aux CGR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86360-FD35-5DEA-0FB5-2D9A735ED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ym typeface="Wingdings" pitchFamily="2" charset="2"/>
              </a:rPr>
              <a:t>Perfusion : nécessite un transporteur d’oxygène</a:t>
            </a:r>
          </a:p>
          <a:p>
            <a:r>
              <a:rPr lang="fr-FR" dirty="0">
                <a:sym typeface="Wingdings" pitchFamily="2" charset="2"/>
              </a:rPr>
              <a:t>Actuellement : </a:t>
            </a:r>
            <a:r>
              <a:rPr lang="fr-FR" b="1" dirty="0">
                <a:sym typeface="Wingdings" pitchFamily="2" charset="2"/>
              </a:rPr>
              <a:t>utilise culots de banque (EFS)</a:t>
            </a:r>
            <a:endParaRPr lang="fr-FR" dirty="0">
              <a:sym typeface="Wingdings" pitchFamily="2" charset="2"/>
            </a:endParaRPr>
          </a:p>
          <a:p>
            <a:r>
              <a:rPr lang="fr-FR" dirty="0">
                <a:sym typeface="Wingdings" pitchFamily="2" charset="2"/>
              </a:rPr>
              <a:t>1 perfusion normothermique de 6 - 8h = 2 à 3 CGR</a:t>
            </a:r>
          </a:p>
          <a:p>
            <a:endParaRPr lang="fr-FR" dirty="0">
              <a:sym typeface="Wingdings" pitchFamily="2" charset="2"/>
            </a:endParaRPr>
          </a:p>
          <a:p>
            <a:pPr marL="0" indent="0">
              <a:buNone/>
            </a:pPr>
            <a:r>
              <a:rPr lang="fr-FR" dirty="0">
                <a:sym typeface="Wingdings" pitchFamily="2" charset="2"/>
              </a:rPr>
              <a:t>Alternatives testées : couteuses ++</a:t>
            </a:r>
          </a:p>
          <a:p>
            <a:pPr>
              <a:buFontTx/>
              <a:buChar char="-"/>
            </a:pPr>
            <a:r>
              <a:rPr lang="en-GB" dirty="0" err="1"/>
              <a:t>Hémoglobine</a:t>
            </a:r>
            <a:r>
              <a:rPr lang="en-GB" dirty="0"/>
              <a:t> bovine </a:t>
            </a:r>
            <a:r>
              <a:rPr lang="en-GB" dirty="0" err="1"/>
              <a:t>modifiée</a:t>
            </a:r>
            <a:r>
              <a:rPr lang="en-GB" dirty="0"/>
              <a:t> (HBOC, </a:t>
            </a:r>
            <a:r>
              <a:rPr lang="en-GB" dirty="0" err="1"/>
              <a:t>Hemopure</a:t>
            </a:r>
            <a:r>
              <a:rPr lang="en-GB" dirty="0"/>
              <a:t>®)</a:t>
            </a:r>
          </a:p>
          <a:p>
            <a:pPr>
              <a:buFontTx/>
              <a:buChar char="-"/>
            </a:pPr>
            <a:r>
              <a:rPr lang="en-GB" dirty="0" err="1"/>
              <a:t>Hémoglobine</a:t>
            </a:r>
            <a:r>
              <a:rPr lang="en-GB" dirty="0"/>
              <a:t> de </a:t>
            </a:r>
            <a:r>
              <a:rPr lang="en-GB" dirty="0" err="1"/>
              <a:t>ver</a:t>
            </a:r>
            <a:r>
              <a:rPr lang="en-GB" dirty="0"/>
              <a:t> </a:t>
            </a:r>
            <a:r>
              <a:rPr lang="en-GB" dirty="0" err="1"/>
              <a:t>marin</a:t>
            </a:r>
            <a:r>
              <a:rPr lang="en-GB" dirty="0"/>
              <a:t> (HEMO2Life®)</a:t>
            </a:r>
          </a:p>
          <a:p>
            <a:pPr marL="0" indent="0">
              <a:buNone/>
            </a:pPr>
            <a:endParaRPr lang="fr-FR" dirty="0">
              <a:sym typeface="Wingdings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E269A-C648-6FF8-419A-6F927F0E9CCD}"/>
              </a:ext>
            </a:extLst>
          </p:cNvPr>
          <p:cNvSpPr txBox="1"/>
          <p:nvPr/>
        </p:nvSpPr>
        <p:spPr>
          <a:xfrm>
            <a:off x="9271008" y="5576798"/>
            <a:ext cx="2920992" cy="1200329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fr-FR" dirty="0"/>
              <a:t>Laing </a:t>
            </a:r>
            <a:r>
              <a:rPr lang="fr-FR" i="1" dirty="0"/>
              <a:t>Transplantation </a:t>
            </a:r>
            <a:r>
              <a:rPr lang="fr-FR" dirty="0"/>
              <a:t>2017</a:t>
            </a:r>
          </a:p>
          <a:p>
            <a:r>
              <a:rPr lang="fr-FR" dirty="0"/>
              <a:t>Matton </a:t>
            </a:r>
            <a:r>
              <a:rPr lang="fr-FR" i="1" dirty="0" err="1"/>
              <a:t>Liver</a:t>
            </a:r>
            <a:r>
              <a:rPr lang="fr-FR" i="1" dirty="0"/>
              <a:t> </a:t>
            </a:r>
            <a:r>
              <a:rPr lang="fr-FR" i="1" dirty="0" err="1"/>
              <a:t>Transpl</a:t>
            </a:r>
            <a:r>
              <a:rPr lang="fr-FR" i="1" dirty="0"/>
              <a:t> </a:t>
            </a:r>
            <a:r>
              <a:rPr lang="fr-FR" dirty="0"/>
              <a:t>2018</a:t>
            </a:r>
          </a:p>
          <a:p>
            <a:r>
              <a:rPr lang="fr-FR" dirty="0"/>
              <a:t>Alix </a:t>
            </a:r>
            <a:r>
              <a:rPr lang="fr-FR" i="1" dirty="0"/>
              <a:t>J </a:t>
            </a:r>
            <a:r>
              <a:rPr lang="fr-FR" i="1" dirty="0" err="1"/>
              <a:t>Hepatol</a:t>
            </a:r>
            <a:r>
              <a:rPr lang="fr-FR" i="1" dirty="0"/>
              <a:t> </a:t>
            </a:r>
            <a:r>
              <a:rPr lang="fr-FR" dirty="0"/>
              <a:t>2020</a:t>
            </a:r>
          </a:p>
          <a:p>
            <a:r>
              <a:rPr lang="fr-FR" dirty="0" err="1"/>
              <a:t>Asong</a:t>
            </a:r>
            <a:r>
              <a:rPr lang="fr-FR" dirty="0"/>
              <a:t> </a:t>
            </a:r>
            <a:r>
              <a:rPr lang="fr-FR" i="1" dirty="0"/>
              <a:t>Int J Mol </a:t>
            </a:r>
            <a:r>
              <a:rPr lang="fr-FR" i="1" dirty="0" err="1"/>
              <a:t>Sci</a:t>
            </a:r>
            <a:r>
              <a:rPr lang="fr-FR" dirty="0"/>
              <a:t> 2021</a:t>
            </a:r>
          </a:p>
        </p:txBody>
      </p:sp>
    </p:spTree>
    <p:extLst>
      <p:ext uri="{BB962C8B-B14F-4D97-AF65-F5344CB8AC3E}">
        <p14:creationId xmlns:p14="http://schemas.microsoft.com/office/powerpoint/2010/main" val="160885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E141F-7204-1E91-7FD6-CAF8FEC9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63;p23">
            <a:extLst>
              <a:ext uri="{FF2B5EF4-FFF2-40B4-BE49-F238E27FC236}">
                <a16:creationId xmlns:a16="http://schemas.microsoft.com/office/drawing/2014/main" id="{876490CC-B0A4-9209-A86F-C90D3D0C76B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3494"/>
          <a:stretch/>
        </p:blipFill>
        <p:spPr>
          <a:xfrm>
            <a:off x="8825775" y="198051"/>
            <a:ext cx="1773125" cy="19242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910F5C-2E99-8431-DF28-E73399E4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Concept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9BA37-E70E-A03A-77A2-CE7FB0799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65568" cy="4351338"/>
          </a:xfrm>
        </p:spPr>
        <p:txBody>
          <a:bodyPr/>
          <a:lstStyle/>
          <a:p>
            <a:r>
              <a:rPr lang="fr-FR" dirty="0">
                <a:sym typeface="Wingdings" pitchFamily="2" charset="2"/>
              </a:rPr>
              <a:t>Utiliser le sang issu de la décharge cave lors du prélèvement multi-organe comme transporteur d’oxygène</a:t>
            </a:r>
            <a:br>
              <a:rPr lang="fr-FR" dirty="0">
                <a:sym typeface="Wingdings" pitchFamily="2" charset="2"/>
              </a:rPr>
            </a:br>
            <a:endParaRPr lang="fr-FR" dirty="0">
              <a:sym typeface="Wingdings" pitchFamily="2" charset="2"/>
            </a:endParaRPr>
          </a:p>
          <a:p>
            <a:r>
              <a:rPr lang="fr-FR" dirty="0">
                <a:sym typeface="Wingdings" pitchFamily="2" charset="2"/>
              </a:rPr>
              <a:t>Traitement avec </a:t>
            </a:r>
            <a:r>
              <a:rPr lang="fr-FR" b="1" dirty="0" err="1">
                <a:sym typeface="Wingdings" pitchFamily="2" charset="2"/>
              </a:rPr>
              <a:t>cell-saver</a:t>
            </a:r>
            <a:r>
              <a:rPr lang="fr-FR" dirty="0">
                <a:sym typeface="Wingdings" pitchFamily="2" charset="2"/>
              </a:rPr>
              <a:t> : </a:t>
            </a:r>
            <a:r>
              <a:rPr lang="fr-FR" sz="2000" dirty="0">
                <a:sym typeface="Wingdings" pitchFamily="2" charset="2"/>
              </a:rPr>
              <a:t>dispositif de récupération per-opératoire du sang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>
                <a:sym typeface="Wingdings" pitchFamily="2" charset="2"/>
              </a:rPr>
              <a:t>Récupération par aspiration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>
                <a:sym typeface="Wingdings" pitchFamily="2" charset="2"/>
              </a:rPr>
              <a:t>Centrifugation combinée à un lavage au sérum physiologique</a:t>
            </a:r>
            <a:br>
              <a:rPr lang="fr-FR" dirty="0">
                <a:sym typeface="Wingdings" pitchFamily="2" charset="2"/>
              </a:rPr>
            </a:br>
            <a:endParaRPr lang="fr-FR" dirty="0">
              <a:sym typeface="Wingdings" pitchFamily="2" charset="2"/>
            </a:endParaRPr>
          </a:p>
          <a:p>
            <a:r>
              <a:rPr lang="fr-FR" dirty="0">
                <a:sym typeface="Wingdings" pitchFamily="2" charset="2"/>
              </a:rPr>
              <a:t>Obtient une </a:t>
            </a:r>
            <a:r>
              <a:rPr lang="fr-FR" b="1" dirty="0">
                <a:sym typeface="Wingdings" pitchFamily="2" charset="2"/>
              </a:rPr>
              <a:t>suspension d’hématies dans du sérum physiologique</a:t>
            </a:r>
            <a:endParaRPr lang="fr-FR" dirty="0">
              <a:sym typeface="Wingdings" pitchFamily="2" charset="2"/>
            </a:endParaRPr>
          </a:p>
        </p:txBody>
      </p:sp>
      <p:pic>
        <p:nvPicPr>
          <p:cNvPr id="5" name="Google Shape;118;p18">
            <a:extLst>
              <a:ext uri="{FF2B5EF4-FFF2-40B4-BE49-F238E27FC236}">
                <a16:creationId xmlns:a16="http://schemas.microsoft.com/office/drawing/2014/main" id="{831EDFD5-D680-085C-4BA2-0B2E0D684E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9165"/>
          <a:stretch/>
        </p:blipFill>
        <p:spPr>
          <a:xfrm>
            <a:off x="3152476" y="206169"/>
            <a:ext cx="1598275" cy="15519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119;p18">
            <a:extLst>
              <a:ext uri="{FF2B5EF4-FFF2-40B4-BE49-F238E27FC236}">
                <a16:creationId xmlns:a16="http://schemas.microsoft.com/office/drawing/2014/main" id="{A66A72EF-A593-3CCD-4956-0A1D1A7ED84F}"/>
              </a:ext>
            </a:extLst>
          </p:cNvPr>
          <p:cNvCxnSpPr>
            <a:cxnSpLocks/>
          </p:cNvCxnSpPr>
          <p:nvPr/>
        </p:nvCxnSpPr>
        <p:spPr>
          <a:xfrm>
            <a:off x="5014076" y="965963"/>
            <a:ext cx="712956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" name="Google Shape;120;p18">
            <a:extLst>
              <a:ext uri="{FF2B5EF4-FFF2-40B4-BE49-F238E27FC236}">
                <a16:creationId xmlns:a16="http://schemas.microsoft.com/office/drawing/2014/main" id="{E09D0D3B-5F86-7B12-861B-EA90B29E37B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9844" y="-190364"/>
            <a:ext cx="2005338" cy="2312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119;p18">
            <a:extLst>
              <a:ext uri="{FF2B5EF4-FFF2-40B4-BE49-F238E27FC236}">
                <a16:creationId xmlns:a16="http://schemas.microsoft.com/office/drawing/2014/main" id="{7E486BE3-ABBC-8F56-ADC3-30B08AAC8BA4}"/>
              </a:ext>
            </a:extLst>
          </p:cNvPr>
          <p:cNvCxnSpPr/>
          <p:nvPr/>
        </p:nvCxnSpPr>
        <p:spPr>
          <a:xfrm>
            <a:off x="7065027" y="1016928"/>
            <a:ext cx="1517700" cy="16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4B60C65-9C88-978D-0330-3FCE34408EEA}"/>
              </a:ext>
            </a:extLst>
          </p:cNvPr>
          <p:cNvSpPr txBox="1"/>
          <p:nvPr/>
        </p:nvSpPr>
        <p:spPr>
          <a:xfrm>
            <a:off x="396931" y="5841072"/>
            <a:ext cx="8707640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Protocole intégré à l’essai préclinique PFS 12-005 validé par l’ABM </a:t>
            </a:r>
          </a:p>
          <a:p>
            <a:r>
              <a:rPr lang="fr-FR" dirty="0"/>
              <a:t>Résultats préliminaires : hématocrite 50%, absence de schizocytes en fin de perfusion</a:t>
            </a:r>
          </a:p>
        </p:txBody>
      </p:sp>
    </p:spTree>
    <p:extLst>
      <p:ext uri="{BB962C8B-B14F-4D97-AF65-F5344CB8AC3E}">
        <p14:creationId xmlns:p14="http://schemas.microsoft.com/office/powerpoint/2010/main" val="3709311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01610-49C2-429B-4289-04D5EC2DF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DFBD-C86E-050C-BEF2-87E1FC0F0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Rationnel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18B98-40D1-5B78-88EB-33FC8A76A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65568" cy="4351338"/>
          </a:xfrm>
        </p:spPr>
        <p:txBody>
          <a:bodyPr/>
          <a:lstStyle/>
          <a:p>
            <a:r>
              <a:rPr lang="fr-FR" dirty="0">
                <a:sym typeface="Wingdings" pitchFamily="2" charset="2"/>
              </a:rPr>
              <a:t>Utilisation d’un circuit extra-corporel :  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b="1" dirty="0">
                <a:sym typeface="Wingdings" pitchFamily="2" charset="2"/>
              </a:rPr>
              <a:t>Inflammation systémique </a:t>
            </a:r>
            <a:r>
              <a:rPr lang="fr-FR" dirty="0">
                <a:sym typeface="Wingdings" pitchFamily="2" charset="2"/>
              </a:rPr>
              <a:t>: activation cytokines inflammatoires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b="1" dirty="0">
                <a:sym typeface="Wingdings" pitchFamily="2" charset="2"/>
              </a:rPr>
              <a:t>Hémolyse</a:t>
            </a:r>
            <a:r>
              <a:rPr lang="fr-FR" dirty="0">
                <a:sym typeface="Wingdings" pitchFamily="2" charset="2"/>
              </a:rPr>
              <a:t> : action mécanique sur hématies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1684D-DFC2-8CB5-72FD-51B87518694F}"/>
              </a:ext>
            </a:extLst>
          </p:cNvPr>
          <p:cNvSpPr txBox="1"/>
          <p:nvPr/>
        </p:nvSpPr>
        <p:spPr>
          <a:xfrm>
            <a:off x="8093118" y="5850235"/>
            <a:ext cx="4010650" cy="92333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fr-FR" dirty="0" err="1"/>
              <a:t>Paparella</a:t>
            </a:r>
            <a:r>
              <a:rPr lang="fr-FR" dirty="0"/>
              <a:t> </a:t>
            </a:r>
            <a:r>
              <a:rPr lang="fr-FR" i="1" dirty="0" err="1"/>
              <a:t>Eur</a:t>
            </a:r>
            <a:r>
              <a:rPr lang="fr-FR" i="1" dirty="0"/>
              <a:t> J </a:t>
            </a:r>
            <a:r>
              <a:rPr lang="fr-FR" i="1" dirty="0" err="1"/>
              <a:t>Cardiothorac</a:t>
            </a:r>
            <a:r>
              <a:rPr lang="fr-FR" i="1" dirty="0"/>
              <a:t> </a:t>
            </a:r>
            <a:r>
              <a:rPr lang="fr-FR" i="1" dirty="0" err="1"/>
              <a:t>Surg</a:t>
            </a:r>
            <a:r>
              <a:rPr lang="fr-FR" dirty="0"/>
              <a:t> 2002</a:t>
            </a:r>
          </a:p>
          <a:p>
            <a:r>
              <a:rPr lang="fr-FR" dirty="0" err="1"/>
              <a:t>Millar</a:t>
            </a:r>
            <a:r>
              <a:rPr lang="fr-FR" dirty="0"/>
              <a:t> </a:t>
            </a:r>
            <a:r>
              <a:rPr lang="fr-FR" i="1" dirty="0"/>
              <a:t>Crit Care </a:t>
            </a:r>
            <a:r>
              <a:rPr lang="fr-FR" dirty="0"/>
              <a:t>2016</a:t>
            </a:r>
          </a:p>
          <a:p>
            <a:r>
              <a:rPr lang="fr-FR" dirty="0" err="1"/>
              <a:t>MclLwain</a:t>
            </a:r>
            <a:r>
              <a:rPr lang="fr-FR" dirty="0"/>
              <a:t> </a:t>
            </a:r>
            <a:r>
              <a:rPr lang="fr-FR" i="1" dirty="0" err="1"/>
              <a:t>Lab</a:t>
            </a:r>
            <a:r>
              <a:rPr lang="fr-FR" i="1" dirty="0"/>
              <a:t> Invest </a:t>
            </a:r>
            <a:r>
              <a:rPr lang="fr-FR" dirty="0"/>
              <a:t>2016</a:t>
            </a:r>
          </a:p>
        </p:txBody>
      </p:sp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74855A68-A3A8-47C9-C541-A296C52BE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568" y="3036189"/>
            <a:ext cx="3703636" cy="373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6961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47F71-DA10-3C7B-A0F6-1AEBCAFB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283F-4EF9-1E6F-D779-445A503B9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Objectif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05120-D1A5-ADAA-8F04-308759684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fr-FR">
                <a:sym typeface="Wingdings" pitchFamily="2" charset="2"/>
              </a:rPr>
              <a:t>Conduire une étude de </a:t>
            </a:r>
            <a:r>
              <a:rPr lang="fr-FR" b="1">
                <a:sym typeface="Wingdings" pitchFamily="2" charset="2"/>
              </a:rPr>
              <a:t>FAISABILITÉ </a:t>
            </a:r>
            <a:r>
              <a:rPr lang="fr-FR">
                <a:sym typeface="Wingdings" pitchFamily="2" charset="2"/>
              </a:rPr>
              <a:t>et de </a:t>
            </a:r>
            <a:r>
              <a:rPr lang="fr-FR" b="1">
                <a:sym typeface="Wingdings" pitchFamily="2" charset="2"/>
              </a:rPr>
              <a:t>SÉCURITÉ </a:t>
            </a:r>
            <a:r>
              <a:rPr lang="fr-FR">
                <a:sym typeface="Wingdings" pitchFamily="2" charset="2"/>
              </a:rPr>
              <a:t>de l’utilisation du sang du donneur d’organe en perfusion normothermique </a:t>
            </a:r>
            <a:r>
              <a:rPr lang="fr-FR" i="1">
                <a:sym typeface="Wingdings" pitchFamily="2" charset="2"/>
              </a:rPr>
              <a:t>ex vivo</a:t>
            </a:r>
            <a:endParaRPr lang="fr-FR" b="1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8197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16F5E-447F-90EF-D94E-4A762E3C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B153C-802B-6B64-636A-E1E5AC10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1</a:t>
            </a:r>
            <a:r>
              <a:rPr lang="fr-FR" baseline="30000"/>
              <a:t>ère</a:t>
            </a:r>
            <a:r>
              <a:rPr lang="fr-FR"/>
              <a:t> phase – analyse sur sang du donneur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399C8-0457-EC2A-ED1A-5886227A0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fr-FR" dirty="0">
                <a:sym typeface="Wingdings" pitchFamily="2" charset="2"/>
              </a:rPr>
              <a:t>SANS greffon</a:t>
            </a:r>
          </a:p>
          <a:p>
            <a:r>
              <a:rPr lang="fr-FR" b="1" dirty="0">
                <a:sym typeface="Wingdings" pitchFamily="2" charset="2"/>
              </a:rPr>
              <a:t>Utiliser sang du donneur comme </a:t>
            </a:r>
            <a:r>
              <a:rPr lang="fr-FR" b="1" dirty="0" err="1">
                <a:sym typeface="Wingdings" pitchFamily="2" charset="2"/>
              </a:rPr>
              <a:t>perfusat</a:t>
            </a:r>
            <a:endParaRPr lang="fr-FR" dirty="0">
              <a:sym typeface="Wingdings" pitchFamily="2" charset="2"/>
            </a:endParaRPr>
          </a:p>
          <a:p>
            <a:r>
              <a:rPr lang="fr-FR" dirty="0">
                <a:sym typeface="Wingdings" pitchFamily="2" charset="2"/>
              </a:rPr>
              <a:t>Critères analysés : </a:t>
            </a:r>
          </a:p>
          <a:p>
            <a:pPr lvl="1"/>
            <a:r>
              <a:rPr lang="fr-FR" dirty="0">
                <a:sym typeface="Wingdings" pitchFamily="2" charset="2"/>
              </a:rPr>
              <a:t>Hémolyse</a:t>
            </a:r>
          </a:p>
          <a:p>
            <a:pPr lvl="1"/>
            <a:r>
              <a:rPr lang="fr-FR" dirty="0">
                <a:sym typeface="Wingdings" pitchFamily="2" charset="2"/>
              </a:rPr>
              <a:t>Inflammation induite</a:t>
            </a:r>
          </a:p>
          <a:p>
            <a:pPr lvl="1"/>
            <a:r>
              <a:rPr lang="fr-FR" dirty="0">
                <a:sym typeface="Wingdings" pitchFamily="2" charset="2"/>
              </a:rPr>
              <a:t>Contamination microbiologique</a:t>
            </a:r>
          </a:p>
          <a:p>
            <a:pPr lvl="1"/>
            <a:endParaRPr lang="fr-FR" dirty="0">
              <a:sym typeface="Wingdings" pitchFamily="2" charset="2"/>
            </a:endParaRPr>
          </a:p>
          <a:p>
            <a:r>
              <a:rPr lang="fr-FR" b="1" dirty="0">
                <a:sym typeface="Wingdings" pitchFamily="2" charset="2"/>
              </a:rPr>
              <a:t>Contrôle</a:t>
            </a:r>
            <a:r>
              <a:rPr lang="fr-FR" dirty="0">
                <a:sym typeface="Wingdings" pitchFamily="2" charset="2"/>
              </a:rPr>
              <a:t> : résidus de CGR / CGR périmés ?</a:t>
            </a:r>
            <a:endParaRPr lang="fr-FR" b="1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60858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F62F-C4E5-6E95-845B-9446DFD2C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3CFDC-0ED4-C414-EC9B-228C6320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</a:t>
            </a:r>
            <a:r>
              <a:rPr lang="fr-FR" baseline="30000" dirty="0"/>
              <a:t>e</a:t>
            </a:r>
            <a:r>
              <a:rPr lang="fr-FR" dirty="0"/>
              <a:t> phase – analyse sur greffon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D2205-F8BD-3148-8F00-7FCBC7374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fr-FR" dirty="0">
                <a:sym typeface="Wingdings" pitchFamily="2" charset="2"/>
              </a:rPr>
              <a:t>Avec greffon sur machine : </a:t>
            </a:r>
            <a:r>
              <a:rPr lang="fr-FR" i="1" dirty="0" err="1">
                <a:sym typeface="Wingdings" pitchFamily="2" charset="2"/>
              </a:rPr>
              <a:t>discard</a:t>
            </a:r>
            <a:r>
              <a:rPr lang="fr-FR" dirty="0">
                <a:sym typeface="Wingdings" pitchFamily="2" charset="2"/>
              </a:rPr>
              <a:t> ou explanté</a:t>
            </a:r>
          </a:p>
          <a:p>
            <a:r>
              <a:rPr lang="fr-FR" dirty="0">
                <a:sym typeface="Wingdings" pitchFamily="2" charset="2"/>
              </a:rPr>
              <a:t>Idem + critères liés à la perfusion hépatique</a:t>
            </a:r>
          </a:p>
          <a:p>
            <a:r>
              <a:rPr lang="fr-FR" dirty="0">
                <a:sym typeface="Wingdings" pitchFamily="2" charset="2"/>
              </a:rPr>
              <a:t>Fonction hépatique : hémostase, biochimie sanguine et biliaire</a:t>
            </a:r>
          </a:p>
          <a:p>
            <a:pPr lvl="1"/>
            <a:endParaRPr lang="fr-FR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35170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86216-B05C-708A-AC67-3AD254EEA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1120-CFC6-D516-0A44-CDAE55114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des critères de sécurité – revue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65D334-38CC-36BB-7317-B0E6E617ED61}"/>
              </a:ext>
            </a:extLst>
          </p:cNvPr>
          <p:cNvSpPr/>
          <p:nvPr/>
        </p:nvSpPr>
        <p:spPr>
          <a:xfrm>
            <a:off x="228601" y="1395663"/>
            <a:ext cx="3862136" cy="90236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fr-FR" b="1" dirty="0">
                <a:solidFill>
                  <a:sysClr val="windowText" lastClr="000000"/>
                </a:solidFill>
              </a:rPr>
              <a:t>IDENTIFICATION</a:t>
            </a:r>
          </a:p>
          <a:p>
            <a:pPr marL="342900" indent="-342900">
              <a:buAutoNum type="arabicPeriod"/>
            </a:pPr>
            <a:r>
              <a:rPr lang="fr-FR" sz="1400" dirty="0">
                <a:solidFill>
                  <a:sysClr val="windowText" lastClr="000000"/>
                </a:solidFill>
              </a:rPr>
              <a:t>Littérature spécifique NMP</a:t>
            </a:r>
          </a:p>
          <a:p>
            <a:pPr marL="342900" indent="-342900">
              <a:buAutoNum type="arabicPeriod"/>
            </a:pPr>
            <a:r>
              <a:rPr lang="fr-FR" sz="1400" dirty="0">
                <a:solidFill>
                  <a:sysClr val="windowText" lastClr="000000"/>
                </a:solidFill>
              </a:rPr>
              <a:t>Littérature sur ECMO / CEC</a:t>
            </a:r>
          </a:p>
          <a:p>
            <a:pPr marL="342900" indent="-342900">
              <a:buAutoNum type="arabicPeriod"/>
            </a:pPr>
            <a:r>
              <a:rPr lang="fr-FR" sz="1400" dirty="0">
                <a:solidFill>
                  <a:sysClr val="windowText" lastClr="000000"/>
                </a:solidFill>
              </a:rPr>
              <a:t>Référentiels transfusionnels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936263-7486-76C4-33BC-788566F949FC}"/>
              </a:ext>
            </a:extLst>
          </p:cNvPr>
          <p:cNvSpPr/>
          <p:nvPr/>
        </p:nvSpPr>
        <p:spPr>
          <a:xfrm>
            <a:off x="228601" y="2501789"/>
            <a:ext cx="3862136" cy="13658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fr-FR" b="1" dirty="0">
                <a:solidFill>
                  <a:sysClr val="windowText" lastClr="000000"/>
                </a:solidFill>
              </a:rPr>
              <a:t>RECHERCHE</a:t>
            </a:r>
          </a:p>
          <a:p>
            <a:r>
              <a:rPr lang="fr-FR" sz="1400" dirty="0">
                <a:solidFill>
                  <a:sysClr val="windowText" lastClr="000000"/>
                </a:solidFill>
              </a:rPr>
              <a:t>Base : PubMed, Cochrane, Embase, Web of Science, référentiels normalisés (NF, FDA, EDQM)</a:t>
            </a:r>
          </a:p>
          <a:p>
            <a:r>
              <a:rPr lang="fr-FR" sz="1400" dirty="0">
                <a:solidFill>
                  <a:schemeClr val="tx1"/>
                </a:solidFill>
              </a:rPr>
              <a:t>Descripteurs</a:t>
            </a:r>
            <a:r>
              <a:rPr lang="fr-FR" sz="1400" dirty="0">
                <a:solidFill>
                  <a:schemeClr val="bg1">
                    <a:lumMod val="65000"/>
                  </a:schemeClr>
                </a:solidFill>
              </a:rPr>
              <a:t> : </a:t>
            </a:r>
            <a:r>
              <a:rPr lang="fr-FR" sz="1400" i="1" dirty="0" err="1">
                <a:solidFill>
                  <a:schemeClr val="bg1">
                    <a:lumMod val="65000"/>
                  </a:schemeClr>
                </a:solidFill>
              </a:rPr>
              <a:t>normothermic</a:t>
            </a:r>
            <a:r>
              <a:rPr lang="fr-FR" sz="1400" i="1" dirty="0">
                <a:solidFill>
                  <a:schemeClr val="bg1">
                    <a:lumMod val="65000"/>
                  </a:schemeClr>
                </a:solidFill>
              </a:rPr>
              <a:t> perfusion, </a:t>
            </a:r>
            <a:r>
              <a:rPr lang="fr-FR" sz="1400" i="1" dirty="0" err="1">
                <a:solidFill>
                  <a:schemeClr val="bg1">
                    <a:lumMod val="65000"/>
                  </a:schemeClr>
                </a:solidFill>
              </a:rPr>
              <a:t>oxygen</a:t>
            </a:r>
            <a:r>
              <a:rPr lang="fr-FR" sz="1400" i="1" dirty="0">
                <a:solidFill>
                  <a:schemeClr val="bg1">
                    <a:lumMod val="65000"/>
                  </a:schemeClr>
                </a:solidFill>
              </a:rPr>
              <a:t> carrier, </a:t>
            </a:r>
            <a:r>
              <a:rPr lang="fr-FR" sz="1400" i="1" dirty="0" err="1">
                <a:solidFill>
                  <a:schemeClr val="bg1">
                    <a:lumMod val="65000"/>
                  </a:schemeClr>
                </a:solidFill>
              </a:rPr>
              <a:t>red</a:t>
            </a:r>
            <a:r>
              <a:rPr lang="fr-FR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fr-FR" sz="1400" i="1" dirty="0" err="1">
                <a:solidFill>
                  <a:schemeClr val="bg1">
                    <a:lumMod val="65000"/>
                  </a:schemeClr>
                </a:solidFill>
              </a:rPr>
              <a:t>blood</a:t>
            </a:r>
            <a:r>
              <a:rPr lang="fr-FR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fr-FR" sz="1400" i="1" dirty="0" err="1">
                <a:solidFill>
                  <a:schemeClr val="bg1">
                    <a:lumMod val="65000"/>
                  </a:schemeClr>
                </a:solidFill>
              </a:rPr>
              <a:t>cell</a:t>
            </a:r>
            <a:r>
              <a:rPr lang="fr-FR" sz="1400" i="1" dirty="0">
                <a:solidFill>
                  <a:schemeClr val="bg1">
                    <a:lumMod val="65000"/>
                  </a:schemeClr>
                </a:solidFill>
              </a:rPr>
              <a:t> transfusion, </a:t>
            </a:r>
            <a:r>
              <a:rPr lang="fr-FR" sz="1400" i="1" dirty="0" err="1">
                <a:solidFill>
                  <a:schemeClr val="bg1">
                    <a:lumMod val="65000"/>
                  </a:schemeClr>
                </a:solidFill>
              </a:rPr>
              <a:t>extracorporeal</a:t>
            </a:r>
            <a:r>
              <a:rPr lang="fr-FR" sz="1400" i="1" dirty="0">
                <a:solidFill>
                  <a:schemeClr val="bg1">
                    <a:lumMod val="65000"/>
                  </a:schemeClr>
                </a:solidFill>
              </a:rPr>
              <a:t> circuit</a:t>
            </a:r>
            <a:endParaRPr lang="fr-FR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014D7C-DBF1-7575-9624-393DF9785027}"/>
              </a:ext>
            </a:extLst>
          </p:cNvPr>
          <p:cNvSpPr/>
          <p:nvPr/>
        </p:nvSpPr>
        <p:spPr>
          <a:xfrm>
            <a:off x="228601" y="4071411"/>
            <a:ext cx="3862136" cy="99935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fr-FR" b="1" dirty="0">
                <a:solidFill>
                  <a:sysClr val="windowText" lastClr="000000"/>
                </a:solidFill>
              </a:rPr>
              <a:t>SÉLECTION</a:t>
            </a:r>
          </a:p>
          <a:p>
            <a:r>
              <a:rPr lang="fr-FR" sz="1400" dirty="0">
                <a:solidFill>
                  <a:sysClr val="windowText" lastClr="000000"/>
                </a:solidFill>
              </a:rPr>
              <a:t>Déduplication puis criblage titre/résumé</a:t>
            </a:r>
          </a:p>
          <a:p>
            <a:r>
              <a:rPr lang="fr-FR" sz="1400" dirty="0">
                <a:solidFill>
                  <a:sysClr val="windowText" lastClr="000000"/>
                </a:solidFill>
              </a:rPr>
              <a:t>Inclusion : critères de sécurité transporteur O</a:t>
            </a:r>
            <a:r>
              <a:rPr lang="fr-FR" sz="1400" baseline="-25000" dirty="0">
                <a:solidFill>
                  <a:sysClr val="windowText" lastClr="000000"/>
                </a:solidFill>
              </a:rPr>
              <a:t>2 </a:t>
            </a:r>
            <a:r>
              <a:rPr lang="fr-FR" sz="1400" dirty="0">
                <a:solidFill>
                  <a:sysClr val="windowText" lastClr="000000"/>
                </a:solidFill>
              </a:rPr>
              <a:t>(NMP, ECMO/</a:t>
            </a:r>
            <a:r>
              <a:rPr lang="fr-FR" sz="1400" dirty="0" err="1">
                <a:solidFill>
                  <a:sysClr val="windowText" lastClr="000000"/>
                </a:solidFill>
              </a:rPr>
              <a:t>CEC,exigences</a:t>
            </a:r>
            <a:r>
              <a:rPr lang="fr-FR" sz="1400" dirty="0">
                <a:solidFill>
                  <a:sysClr val="windowText" lastClr="000000"/>
                </a:solidFill>
              </a:rPr>
              <a:t> CGR)</a:t>
            </a:r>
            <a:endParaRPr lang="fr-FR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180D35-22F2-08A3-7743-42687B42AC80}"/>
              </a:ext>
            </a:extLst>
          </p:cNvPr>
          <p:cNvSpPr/>
          <p:nvPr/>
        </p:nvSpPr>
        <p:spPr>
          <a:xfrm>
            <a:off x="228601" y="5274521"/>
            <a:ext cx="3862136" cy="12183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fr-FR" b="1" dirty="0">
                <a:solidFill>
                  <a:sysClr val="windowText" lastClr="000000"/>
                </a:solidFill>
              </a:rPr>
              <a:t>ÉLIGIBILITÉ</a:t>
            </a:r>
          </a:p>
          <a:p>
            <a:r>
              <a:rPr lang="fr-FR" sz="1400" dirty="0">
                <a:solidFill>
                  <a:sysClr val="windowText" lastClr="000000"/>
                </a:solidFill>
              </a:rPr>
              <a:t>Extraction pour chaque critère : </a:t>
            </a:r>
          </a:p>
          <a:p>
            <a:r>
              <a:rPr lang="fr-FR" sz="1400" dirty="0">
                <a:solidFill>
                  <a:sysClr val="windowText" lastClr="000000"/>
                </a:solidFill>
              </a:rPr>
              <a:t>Définition opérationnelle</a:t>
            </a:r>
          </a:p>
          <a:p>
            <a:r>
              <a:rPr lang="fr-FR" sz="1400" dirty="0">
                <a:solidFill>
                  <a:sysClr val="windowText" lastClr="000000"/>
                </a:solidFill>
              </a:rPr>
              <a:t>Moment de mesure et </a:t>
            </a:r>
            <a:r>
              <a:rPr lang="fr-FR" sz="1400" dirty="0" err="1">
                <a:solidFill>
                  <a:sysClr val="windowText" lastClr="000000"/>
                </a:solidFill>
              </a:rPr>
              <a:t>applicabilié</a:t>
            </a:r>
            <a:endParaRPr lang="fr-FR" sz="1400" dirty="0">
              <a:solidFill>
                <a:sysClr val="windowText" lastClr="000000"/>
              </a:solidFill>
            </a:endParaRPr>
          </a:p>
          <a:p>
            <a:r>
              <a:rPr lang="fr-FR" sz="1400" dirty="0">
                <a:solidFill>
                  <a:sysClr val="windowText" lastClr="000000"/>
                </a:solidFill>
              </a:rPr>
              <a:t>Justification (NMP, ECMO/CEC, norme)</a:t>
            </a:r>
            <a:endParaRPr lang="fr-FR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748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5799-624C-AD23-8D50-0D05EA95E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DC52-97B0-9251-A070-1FF96531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- </a:t>
            </a:r>
            <a:r>
              <a:rPr lang="fr-FR" b="1" dirty="0"/>
              <a:t>hématologie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2A38D9-9D21-B2C6-5995-F6555A72C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757662"/>
              </p:ext>
            </p:extLst>
          </p:nvPr>
        </p:nvGraphicFramePr>
        <p:xfrm>
          <a:off x="454891" y="1920240"/>
          <a:ext cx="1128221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41109">
                  <a:extLst>
                    <a:ext uri="{9D8B030D-6E8A-4147-A177-3AD203B41FA5}">
                      <a16:colId xmlns:a16="http://schemas.microsoft.com/office/drawing/2014/main" val="2023540100"/>
                    </a:ext>
                  </a:extLst>
                </a:gridCol>
                <a:gridCol w="5641109">
                  <a:extLst>
                    <a:ext uri="{9D8B030D-6E8A-4147-A177-3AD203B41FA5}">
                      <a16:colId xmlns:a16="http://schemas.microsoft.com/office/drawing/2014/main" val="2901674966"/>
                    </a:ext>
                  </a:extLst>
                </a:gridCol>
              </a:tblGrid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Hémoglobine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644586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Hématocrite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007924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Hémoglobine libre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139286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Index d’hémolyse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369145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Haptoglobine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266872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Frottis et recherche de schizocytes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154657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Méthémoglobine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  <a:endParaRPr lang="fr-FR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32629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Leucocytose et formule leucocytaire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dirty="0"/>
                        <a:t>Réponse inflammatoire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989941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Immunophénotypage leucocytaire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dirty="0"/>
                        <a:t>Réponse inflammatoire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293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005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09EBF-2291-0D10-8A88-7B15252DF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9394-6C01-D446-2141-F70A697A0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- </a:t>
            </a:r>
            <a:r>
              <a:rPr lang="fr-FR" b="1" dirty="0"/>
              <a:t>hémostase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69DF6B-B801-2FB7-B35C-F1EB21412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578704"/>
              </p:ext>
            </p:extLst>
          </p:nvPr>
        </p:nvGraphicFramePr>
        <p:xfrm>
          <a:off x="454891" y="1920240"/>
          <a:ext cx="112822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41109">
                  <a:extLst>
                    <a:ext uri="{9D8B030D-6E8A-4147-A177-3AD203B41FA5}">
                      <a16:colId xmlns:a16="http://schemas.microsoft.com/office/drawing/2014/main" val="2023540100"/>
                    </a:ext>
                  </a:extLst>
                </a:gridCol>
                <a:gridCol w="5641109">
                  <a:extLst>
                    <a:ext uri="{9D8B030D-6E8A-4147-A177-3AD203B41FA5}">
                      <a16:colId xmlns:a16="http://schemas.microsoft.com/office/drawing/2014/main" val="2901674966"/>
                    </a:ext>
                  </a:extLst>
                </a:gridCol>
              </a:tblGrid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Fonction hépatique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644586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TCA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Fonction hépatique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007924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Facteur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Fonction hépatique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139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991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EF0B-C4FA-AF82-BA86-C0AE9794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67F3A-25CB-ACA9-CAE6-34D76B30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- </a:t>
            </a:r>
            <a:r>
              <a:rPr lang="fr-FR" b="1" dirty="0"/>
              <a:t>biochimie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A0B662-4F8B-07AD-E074-990932F04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709288"/>
              </p:ext>
            </p:extLst>
          </p:nvPr>
        </p:nvGraphicFramePr>
        <p:xfrm>
          <a:off x="454891" y="1920240"/>
          <a:ext cx="11282218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41109">
                  <a:extLst>
                    <a:ext uri="{9D8B030D-6E8A-4147-A177-3AD203B41FA5}">
                      <a16:colId xmlns:a16="http://schemas.microsoft.com/office/drawing/2014/main" val="2023540100"/>
                    </a:ext>
                  </a:extLst>
                </a:gridCol>
                <a:gridCol w="5641109">
                  <a:extLst>
                    <a:ext uri="{9D8B030D-6E8A-4147-A177-3AD203B41FA5}">
                      <a16:colId xmlns:a16="http://schemas.microsoft.com/office/drawing/2014/main" val="2901674966"/>
                    </a:ext>
                  </a:extLst>
                </a:gridCol>
              </a:tblGrid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Ionogramme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644586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Créatinine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007924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Calcémie ionisée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139286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CRP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Réponse inflammatoire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504989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Contamination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401414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LDH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616501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Lactates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019262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Bilirubine totale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563608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Bilirubine libre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Hémolyse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488424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ASAT / ALAT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Fonction hépatique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634307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GGT / 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Fonction hépatique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236738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Glucose sanguin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Fonction hépatique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738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595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A08E0-1044-8BD9-A378-7764C02CD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EEFE-D838-3835-E49F-3D1B15D2E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– </a:t>
            </a:r>
            <a:r>
              <a:rPr lang="fr-FR" b="1" dirty="0"/>
              <a:t>gaz du sang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D211A0-1D65-AFE5-FBC9-81089A092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281003"/>
              </p:ext>
            </p:extLst>
          </p:nvPr>
        </p:nvGraphicFramePr>
        <p:xfrm>
          <a:off x="454891" y="1920240"/>
          <a:ext cx="1128221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41109">
                  <a:extLst>
                    <a:ext uri="{9D8B030D-6E8A-4147-A177-3AD203B41FA5}">
                      <a16:colId xmlns:a16="http://schemas.microsoft.com/office/drawing/2014/main" val="2023540100"/>
                    </a:ext>
                  </a:extLst>
                </a:gridCol>
                <a:gridCol w="5641109">
                  <a:extLst>
                    <a:ext uri="{9D8B030D-6E8A-4147-A177-3AD203B41FA5}">
                      <a16:colId xmlns:a16="http://schemas.microsoft.com/office/drawing/2014/main" val="2901674966"/>
                    </a:ext>
                  </a:extLst>
                </a:gridCol>
              </a:tblGrid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PaO2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Transport d’oxygène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644586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PaCO2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Transport d’oxygène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007924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Bicarbonates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Fonction hépatique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139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624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5AC91-084D-F80B-9A51-FC1618A8B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0F86-6976-4C80-32FD-CD1FEE880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– </a:t>
            </a:r>
            <a:r>
              <a:rPr lang="fr-FR" b="1" dirty="0"/>
              <a:t>microbiologie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3E41F-A9B2-04E3-2D19-4DB04EAA6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174439"/>
              </p:ext>
            </p:extLst>
          </p:nvPr>
        </p:nvGraphicFramePr>
        <p:xfrm>
          <a:off x="454891" y="1920240"/>
          <a:ext cx="11282218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41109">
                  <a:extLst>
                    <a:ext uri="{9D8B030D-6E8A-4147-A177-3AD203B41FA5}">
                      <a16:colId xmlns:a16="http://schemas.microsoft.com/office/drawing/2014/main" val="2023540100"/>
                    </a:ext>
                  </a:extLst>
                </a:gridCol>
                <a:gridCol w="5641109">
                  <a:extLst>
                    <a:ext uri="{9D8B030D-6E8A-4147-A177-3AD203B41FA5}">
                      <a16:colId xmlns:a16="http://schemas.microsoft.com/office/drawing/2014/main" val="2901674966"/>
                    </a:ext>
                  </a:extLst>
                </a:gridCol>
              </a:tblGrid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Hémocultures aérobies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Contamination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644586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Hémocultures anaérobies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Contamination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736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042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A8FC6-B574-1B91-4855-08FD5E586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7546-B51F-6A02-08A8-6B0C5D86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– </a:t>
            </a:r>
            <a:r>
              <a:rPr lang="fr-FR" b="1" dirty="0"/>
              <a:t>immunologie			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851339-8B70-4696-8F22-7E9E362A5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507518"/>
              </p:ext>
            </p:extLst>
          </p:nvPr>
        </p:nvGraphicFramePr>
        <p:xfrm>
          <a:off x="454891" y="1920240"/>
          <a:ext cx="1128221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9764">
                  <a:extLst>
                    <a:ext uri="{9D8B030D-6E8A-4147-A177-3AD203B41FA5}">
                      <a16:colId xmlns:a16="http://schemas.microsoft.com/office/drawing/2014/main" val="2023540100"/>
                    </a:ext>
                  </a:extLst>
                </a:gridCol>
                <a:gridCol w="5322454">
                  <a:extLst>
                    <a:ext uri="{9D8B030D-6E8A-4147-A177-3AD203B41FA5}">
                      <a16:colId xmlns:a16="http://schemas.microsoft.com/office/drawing/2014/main" val="2901674966"/>
                    </a:ext>
                  </a:extLst>
                </a:gridCol>
              </a:tblGrid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Panel de cytokines</a:t>
                      </a:r>
                      <a:br>
                        <a:rPr lang="fr-FR" sz="1800" b="1" dirty="0"/>
                      </a:br>
                      <a:r>
                        <a:rPr lang="fr-FR" sz="1800" b="0" dirty="0"/>
                        <a:t>(</a:t>
                      </a:r>
                      <a:r>
                        <a:rPr lang="fr-F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IL6, IL8, </a:t>
                      </a:r>
                      <a:r>
                        <a:rPr lang="en-F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F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L-1β, IL-4, IL-10, IL-17, IL-22 ; TNF-</a:t>
                      </a:r>
                      <a:r>
                        <a:rPr lang="en-F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F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α)</a:t>
                      </a:r>
                      <a:endParaRPr lang="fr-FR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Réponse inflammatoire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644586"/>
                  </a:ext>
                </a:extLst>
              </a:tr>
              <a:tr h="326437">
                <a:tc>
                  <a:txBody>
                    <a:bodyPr/>
                    <a:lstStyle/>
                    <a:p>
                      <a:r>
                        <a:rPr lang="fr-FR" sz="1800" b="1" dirty="0"/>
                        <a:t>Panel de chimiokines</a:t>
                      </a:r>
                      <a:br>
                        <a:rPr lang="fr-FR" sz="1800" b="1" dirty="0"/>
                      </a:br>
                      <a:r>
                        <a:rPr lang="en-FR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(MCP-1/CCL2, MIP-1α/CCL3, MIP-1β/CCL4, IP-10/CXCL10)</a:t>
                      </a:r>
                      <a:r>
                        <a:rPr lang="en-FR" dirty="0">
                          <a:effectLst/>
                        </a:rPr>
                        <a:t> </a:t>
                      </a:r>
                      <a:endParaRPr lang="fr-FR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Réponse inflammatoire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506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419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DFC41-631B-8307-70C0-BD6A0E78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23E4-C55F-3E44-F275-6B79A160B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des critères choisis</a:t>
            </a:r>
            <a:endParaRPr lang="fr-FR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F53570-FDD4-4E94-001C-3EB2321A7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fr-FR" dirty="0">
                <a:sym typeface="Wingdings" pitchFamily="2" charset="2"/>
              </a:rPr>
              <a:t>Intégrité érythrocytaire</a:t>
            </a:r>
          </a:p>
          <a:p>
            <a:r>
              <a:rPr lang="fr-FR" dirty="0">
                <a:sym typeface="Wingdings" pitchFamily="2" charset="2"/>
              </a:rPr>
              <a:t>Équilibre électrolytique et acido-basique</a:t>
            </a:r>
          </a:p>
          <a:p>
            <a:r>
              <a:rPr lang="fr-FR" dirty="0">
                <a:sym typeface="Wingdings" pitchFamily="2" charset="2"/>
              </a:rPr>
              <a:t>Stérilité</a:t>
            </a:r>
          </a:p>
          <a:p>
            <a:r>
              <a:rPr lang="fr-FR" dirty="0">
                <a:sym typeface="Wingdings" pitchFamily="2" charset="2"/>
              </a:rPr>
              <a:t>Réponse inflammatoire induite par le circuit</a:t>
            </a:r>
          </a:p>
          <a:p>
            <a:r>
              <a:rPr lang="fr-FR" dirty="0">
                <a:sym typeface="Wingdings" pitchFamily="2" charset="2"/>
              </a:rPr>
              <a:t>Fonction hépatique (si greffon en place)</a:t>
            </a:r>
          </a:p>
        </p:txBody>
      </p:sp>
    </p:spTree>
    <p:extLst>
      <p:ext uri="{BB962C8B-B14F-4D97-AF65-F5344CB8AC3E}">
        <p14:creationId xmlns:p14="http://schemas.microsoft.com/office/powerpoint/2010/main" val="472320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644</Words>
  <Application>Microsoft Macintosh PowerPoint</Application>
  <PresentationFormat>Widescreen</PresentationFormat>
  <Paragraphs>148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 Theme</vt:lpstr>
      <vt:lpstr>Protocole</vt:lpstr>
      <vt:lpstr>Introduction – Greffons marginaux</vt:lpstr>
      <vt:lpstr>Introduction – Modèle expérimental</vt:lpstr>
      <vt:lpstr>Introduction – dépendance aux CGR</vt:lpstr>
      <vt:lpstr>Concept </vt:lpstr>
      <vt:lpstr>Rationnel</vt:lpstr>
      <vt:lpstr>Objectif</vt:lpstr>
      <vt:lpstr>1ère phase – analyse sur sang du donneur</vt:lpstr>
      <vt:lpstr>2e phase – analyse sur greffon</vt:lpstr>
      <vt:lpstr>Choix des critères de sécurité – revue</vt:lpstr>
      <vt:lpstr>Critères - hématologie</vt:lpstr>
      <vt:lpstr>Critères - hémostase</vt:lpstr>
      <vt:lpstr>Critères - biochimie</vt:lpstr>
      <vt:lpstr>Critères – gaz du sang</vt:lpstr>
      <vt:lpstr>Critères – microbiologie</vt:lpstr>
      <vt:lpstr>Critères – immunologie   </vt:lpstr>
      <vt:lpstr>Synthèse des critères choisis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Husson</dc:creator>
  <cp:lastModifiedBy>Thomas Husson</cp:lastModifiedBy>
  <cp:revision>1</cp:revision>
  <dcterms:created xsi:type="dcterms:W3CDTF">2025-11-13T10:29:57Z</dcterms:created>
  <dcterms:modified xsi:type="dcterms:W3CDTF">2025-11-13T11:37:12Z</dcterms:modified>
</cp:coreProperties>
</file>